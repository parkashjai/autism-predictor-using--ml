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2E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BB-46DE-9BEC-A24BB83EAEC7}"/>
              </c:ext>
            </c:extLst>
          </c:dPt>
          <c:dPt>
            <c:idx val="1"/>
            <c:invertIfNegative val="0"/>
            <c:bubble3D val="0"/>
            <c:spPr>
              <a:solidFill>
                <a:srgbClr val="6C63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BB-46DE-9BEC-A24BB83EAEC7}"/>
              </c:ext>
            </c:extLst>
          </c:dPt>
          <c:dPt>
            <c:idx val="2"/>
            <c:invertIfNegative val="0"/>
            <c:bubble3D val="0"/>
            <c:spPr>
              <a:solidFill>
                <a:srgbClr val="0ED2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BB-46DE-9BEC-A24BB83EAEC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86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8BB-46DE-9BEC-A24BB83EAEC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88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8BB-46DE-9BEC-A24BB83EAEC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87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8BB-46DE-9BEC-A24BB83EAEC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96</c:v>
                </c:pt>
                <c:pt idx="2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BB-46DE-9BEC-A24BB83EAE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24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ED2F7">
              <a:alpha val="15000"/>
            </a:srgbClr>
          </a:solidFill>
          <a:ln w="12700">
            <a:solidFill>
              <a:srgbClr val="0ED2F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560320" cy="411480"/>
          </a:xfrm>
          <a:prstGeom prst="roundRect">
            <a:avLst>
              <a:gd name="adj" fmla="val 26667"/>
            </a:avLst>
          </a:prstGeom>
          <a:solidFill>
            <a:srgbClr val="6C63FF">
              <a:alpha val="7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 ML / Healthcare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Spectrum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 Prediction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ED2F7"/>
                </a:solidFill>
              </a:rPr>
              <a:t>Using Machine Learning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320040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</a:rPr>
              <a:t>👤  Jai Prakash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</a:rPr>
              <a:t>🏫  GNA University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</a:rPr>
              <a:t>🎓  </a:t>
            </a:r>
            <a:r>
              <a:rPr lang="en-US" sz="1150">
                <a:solidFill>
                  <a:srgbClr val="8892B0"/>
                </a:solidFill>
              </a:rPr>
              <a:t>MCA 4th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0372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</a:rPr>
              <a:t>📅  2025–26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1554480"/>
          </a:xfrm>
          <a:prstGeom prst="rect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55448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Introduction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1554480" cy="155448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1188720"/>
            <a:ext cx="1554480" cy="4389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188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17190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Problem &amp; Solution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49040" y="1188720"/>
            <a:ext cx="1554480" cy="1554480"/>
          </a:xfrm>
          <a:prstGeom prst="rect">
            <a:avLst/>
          </a:prstGeom>
          <a:solidFill>
            <a:srgbClr val="0ED2F7">
              <a:alpha val="12000"/>
            </a:srgbClr>
          </a:solidFill>
          <a:ln w="12700">
            <a:solidFill>
              <a:srgbClr val="0ED2F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188720"/>
            <a:ext cx="1554480" cy="438912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188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17190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Dataset &amp; Features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0" y="1188720"/>
            <a:ext cx="1554480" cy="1554480"/>
          </a:xfrm>
          <a:prstGeom prst="rect">
            <a:avLst/>
          </a:prstGeom>
          <a:solidFill>
            <a:srgbClr val="6BCB77">
              <a:alpha val="12000"/>
            </a:srgbClr>
          </a:solidFill>
          <a:ln w="12700">
            <a:solidFill>
              <a:srgbClr val="6BCB7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188720"/>
            <a:ext cx="1554480" cy="438912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188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17190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23760" y="1188720"/>
            <a:ext cx="1554480" cy="1554480"/>
          </a:xfrm>
          <a:prstGeom prst="rect">
            <a:avLst/>
          </a:prstGeom>
          <a:solidFill>
            <a:srgbClr val="FFD93D">
              <a:alpha val="12000"/>
            </a:srgbClr>
          </a:solidFill>
          <a:ln w="12700">
            <a:solidFill>
              <a:srgbClr val="FFD9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0" y="1188720"/>
            <a:ext cx="1554480" cy="43891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188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9480" y="17190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ML Models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1554480" cy="1554480"/>
          </a:xfrm>
          <a:prstGeom prst="rect">
            <a:avLst/>
          </a:prstGeom>
          <a:solidFill>
            <a:srgbClr val="FF9A3C">
              <a:alpha val="12000"/>
            </a:srgbClr>
          </a:solidFill>
          <a:ln w="12700">
            <a:solidFill>
              <a:srgbClr val="FF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17520"/>
            <a:ext cx="1554480" cy="438912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175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0040" y="35478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Results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011680" y="3017520"/>
            <a:ext cx="1554480" cy="1554480"/>
          </a:xfrm>
          <a:prstGeom prst="rect">
            <a:avLst/>
          </a:prstGeom>
          <a:solidFill>
            <a:srgbClr val="FF8FB1">
              <a:alpha val="12000"/>
            </a:srgbClr>
          </a:solidFill>
          <a:ln w="12700">
            <a:solidFill>
              <a:srgbClr val="FF8FB1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0" y="3017520"/>
            <a:ext cx="1554480" cy="438912"/>
          </a:xfrm>
          <a:prstGeom prst="rect">
            <a:avLst/>
          </a:prstGeom>
          <a:solidFill>
            <a:srgbClr val="FF8FB1"/>
          </a:solidFill>
          <a:ln w="12700">
            <a:solidFill>
              <a:srgbClr val="FF8F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30175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057400" y="35478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Streamlit App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749040" y="3017520"/>
            <a:ext cx="1554480" cy="1554480"/>
          </a:xfrm>
          <a:prstGeom prst="rect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49040" y="3017520"/>
            <a:ext cx="155448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0175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794760" y="35478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Power BI Dashboard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0" y="3017520"/>
            <a:ext cx="1554480" cy="1554480"/>
          </a:xfrm>
          <a:prstGeom prst="rect">
            <a:avLst/>
          </a:prstGeom>
          <a:solidFill>
            <a:srgbClr val="0ED2F7">
              <a:alpha val="12000"/>
            </a:srgbClr>
          </a:solidFill>
          <a:ln w="12700">
            <a:solidFill>
              <a:srgbClr val="0ED2F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0" y="3017520"/>
            <a:ext cx="1554480" cy="438912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0175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32120" y="35478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Testing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223760" y="3017520"/>
            <a:ext cx="1554480" cy="155448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23760" y="3017520"/>
            <a:ext cx="1554480" cy="4389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30175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69480" y="35478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</a:rPr>
              <a:t>Conclusion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 — 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1143000"/>
            <a:ext cx="2194560" cy="2194560"/>
          </a:xfrm>
          <a:prstGeom prst="ellipse">
            <a:avLst/>
          </a:prstGeom>
          <a:solidFill>
            <a:srgbClr val="6C63FF">
              <a:alpha val="85000"/>
            </a:srgbClr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234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474720" y="2121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ASD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74720" y="25420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CAFF"/>
                </a:solidFill>
              </a:rPr>
              <a:t>1 in 36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944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</a:rPr>
              <a:t>children affected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18928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Difficulty in verbal &amp; non-verbal communication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78892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Social Skills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4472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Struggles with social interaction &amp; bonding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23444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Behavior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80760" y="18928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Repetitive patterns &amp; restricted interests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78892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D2F7">
                <a:alpha val="5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294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Early Detection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34472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Critical for timely intervention &amp; better outcomes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—  Problem  vs 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60520" y="2103120"/>
            <a:ext cx="822960" cy="82296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6052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3749040" cy="37490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3749040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Traditional Method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⏱  Time-consuming diagnosis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💸  Costly &amp; resource-heavy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👨‍⚕️  Needs specialist experts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🌍  Not accessible everywhere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7124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📋  Manual &amp; subjective process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1051560"/>
            <a:ext cx="3794760" cy="3749040"/>
          </a:xfrm>
          <a:prstGeom prst="rect">
            <a:avLst/>
          </a:prstGeom>
          <a:solidFill>
            <a:srgbClr val="F0FFF4"/>
          </a:solidFill>
          <a:ln w="12700">
            <a:solidFill>
              <a:srgbClr val="6BCB7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1051560"/>
            <a:ext cx="3794760" cy="50292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ML-Based 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166420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⚡  Fast automated prediction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21762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🆓  Open-source &amp; free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268833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💻  Runs on standard PC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32004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🌐  Accessible to all users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37124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📊  Data-driven &amp; objective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 —  Dataset &amp;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005840"/>
          </a:xfrm>
          <a:prstGeom prst="rect">
            <a:avLst/>
          </a:prstGeom>
          <a:solidFill>
            <a:srgbClr val="6C63FF">
              <a:alpha val="90000"/>
            </a:srgbClr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Kaggle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1920240" cy="1005840"/>
          </a:xfrm>
          <a:prstGeom prst="rect">
            <a:avLst/>
          </a:prstGeom>
          <a:solidFill>
            <a:srgbClr val="FF6B6B">
              <a:alpha val="90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920240" cy="1005840"/>
          </a:xfrm>
          <a:prstGeom prst="rect">
            <a:avLst/>
          </a:prstGeom>
          <a:solidFill>
            <a:srgbClr val="0ED2F7">
              <a:alpha val="90000"/>
            </a:srgbClr>
          </a:solidFill>
          <a:ln w="12700">
            <a:solidFill>
              <a:srgbClr val="0ED2F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CSV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Format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097280"/>
            <a:ext cx="1920240" cy="1005840"/>
          </a:xfrm>
          <a:prstGeom prst="rect">
            <a:avLst/>
          </a:prstGeom>
          <a:solidFill>
            <a:srgbClr val="6BCB77">
              <a:alpha val="90000"/>
            </a:srgbClr>
          </a:solidFill>
          <a:ln w="12700">
            <a:solidFill>
              <a:srgbClr val="6BCB7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Binary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Target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Input Features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8892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52728" y="2788920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2728" y="278892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Gender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31136" y="2788920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0ED2F7">
              <a:alpha val="8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31136" y="278892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Ethnicity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9544" y="2788920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6BCB77">
              <a:alpha val="80000"/>
            </a:srgbClr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9544" y="278892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Country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87952" y="2788920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FFD93D">
              <a:alpha val="80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7952" y="278892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Jaundice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66360" y="2788920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FF9A3C">
              <a:alpha val="80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78892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Family ASD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2788920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278892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A1 Score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23176" y="2788920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3176" y="278892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A2 Score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01584" y="2788920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0ED2F7">
              <a:alpha val="8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01584" y="278892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A3 Score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410712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6BCB77">
              <a:alpha val="80000"/>
            </a:srgbClr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41071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A4 Score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252728" y="3410712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FFD93D">
              <a:alpha val="80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52728" y="341071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A5 Score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31136" y="3410712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FF9A3C">
              <a:alpha val="80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31136" y="341071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A6 Score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9544" y="3410712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9544" y="341071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A7 Score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87952" y="3410712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87952" y="341071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A8 Score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166360" y="3410712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0ED2F7">
              <a:alpha val="8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341071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A9 Score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44768" y="3410712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6BCB77">
              <a:alpha val="80000"/>
            </a:srgbClr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341071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A10 Score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123176" y="3410712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FF9A3C">
              <a:alpha val="80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23176" y="341071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AQ Result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101584" y="3410712"/>
            <a:ext cx="896112" cy="475488"/>
          </a:xfrm>
          <a:prstGeom prst="roundRect">
            <a:avLst>
              <a:gd name="adj" fmla="val 19231"/>
            </a:avLst>
          </a:prstGeom>
          <a:solidFill>
            <a:srgbClr val="FF8FB1">
              <a:alpha val="80000"/>
            </a:srgbClr>
          </a:solidFill>
          <a:ln w="12700">
            <a:solidFill>
              <a:srgbClr val="FF8FB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01584" y="341071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Used App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20624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1A1A2E">
              <a:alpha val="95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2245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🎯  Target Variable:  Class/ASD  →  0 = No ASD   |   1 = ASD Detected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  —  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572768" cy="356616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1572768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8872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75564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🗑️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Clean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944368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Remove duplicates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&amp; irrelevant columns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19656" y="2468880"/>
            <a:ext cx="137160" cy="137160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56232" y="235915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84248" y="1188720"/>
            <a:ext cx="1572768" cy="3566160"/>
          </a:xfrm>
          <a:prstGeom prst="rect">
            <a:avLst/>
          </a:prstGeom>
          <a:solidFill>
            <a:srgbClr val="FFD93D">
              <a:alpha val="12000"/>
            </a:srgbClr>
          </a:solidFill>
          <a:ln w="12700">
            <a:solidFill>
              <a:srgbClr val="FFD9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84248" y="1188720"/>
            <a:ext cx="1572768" cy="47548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118872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84248" y="175564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029968" y="2423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Missing Values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57400" y="2944368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Handle nulls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with imputation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75304" y="2468880"/>
            <a:ext cx="137160" cy="137160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35915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39896" y="1188720"/>
            <a:ext cx="1572768" cy="3566160"/>
          </a:xfrm>
          <a:prstGeom prst="rect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9896" y="1188720"/>
            <a:ext cx="1572768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18872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39896" y="175564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85616" y="2423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Encode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13048" y="2944368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LabelEncoder for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categorical variables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30952" y="2468880"/>
            <a:ext cx="137160" cy="137160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528" y="235915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95544" y="1188720"/>
            <a:ext cx="1572768" cy="3566160"/>
          </a:xfrm>
          <a:prstGeom prst="rect">
            <a:avLst/>
          </a:prstGeom>
          <a:solidFill>
            <a:srgbClr val="0ED2F7">
              <a:alpha val="12000"/>
            </a:srgbClr>
          </a:solidFill>
          <a:ln w="12700">
            <a:solidFill>
              <a:srgbClr val="0ED2F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95544" y="1188720"/>
            <a:ext cx="1572768" cy="475488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95544" y="118872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95544" y="175564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541264" y="2423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SMOTE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68696" y="2944368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Balance classes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using oversampling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86600" y="2468880"/>
            <a:ext cx="137160" cy="137160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235915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51192" y="1188720"/>
            <a:ext cx="1572768" cy="3566160"/>
          </a:xfrm>
          <a:prstGeom prst="rect">
            <a:avLst/>
          </a:prstGeom>
          <a:solidFill>
            <a:srgbClr val="6BCB77">
              <a:alpha val="12000"/>
            </a:srgbClr>
          </a:solidFill>
          <a:ln w="12700">
            <a:solidFill>
              <a:srgbClr val="6BCB7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51192" y="1188720"/>
            <a:ext cx="1572768" cy="475488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51192" y="118872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51192" y="175564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296912" y="2423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Feature Select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24344" y="2944368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Drop ID, age_desc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</a:rPr>
              <a:t>&amp; relation columns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4663440"/>
            <a:ext cx="8686800" cy="292608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 →  Clean DataFrame ready for ML Model Training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</a:rPr>
              <a:t>05  —  Machine Learning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🌳  Decision Tree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795528" cy="320040"/>
          </a:xfrm>
          <a:prstGeom prst="roundRect">
            <a:avLst>
              <a:gd name="adj" fmla="val 22857"/>
            </a:avLst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795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Simple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1828800"/>
            <a:ext cx="795528" cy="320040"/>
          </a:xfrm>
          <a:prstGeom prst="roundRect">
            <a:avLst>
              <a:gd name="adj" fmla="val 22857"/>
            </a:avLst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828800"/>
            <a:ext cx="795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Interpretable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1828800"/>
            <a:ext cx="795528" cy="320040"/>
          </a:xfrm>
          <a:prstGeom prst="roundRect">
            <a:avLst>
              <a:gd name="adj" fmla="val 22857"/>
            </a:avLst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828800"/>
            <a:ext cx="795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2560320" cy="27432"/>
          </a:xfrm>
          <a:prstGeom prst="rect">
            <a:avLst/>
          </a:prstGeom>
          <a:solidFill>
            <a:srgbClr val="FF6B6B">
              <a:alpha val="5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774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Hyperparameter Tuning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724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</a:rPr>
              <a:t>Gini/Entropy · Max Depth · Min Samples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3832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6B6B">
              <a:alpha val="9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83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RandomizedSearchCV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8770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</a:rPr>
              <a:t>✔  SMOTE applied for class balance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72968" y="109728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D2F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1097280"/>
            <a:ext cx="2743200" cy="594360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1097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🌲  Random Forest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64408" y="1828800"/>
            <a:ext cx="795528" cy="320040"/>
          </a:xfrm>
          <a:prstGeom prst="roundRect">
            <a:avLst>
              <a:gd name="adj" fmla="val 22857"/>
            </a:avLst>
          </a:prstGeom>
          <a:solidFill>
            <a:srgbClr val="0ED2F7">
              <a:alpha val="75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1828800"/>
            <a:ext cx="795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Ensemble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33088" y="1828800"/>
            <a:ext cx="795528" cy="320040"/>
          </a:xfrm>
          <a:prstGeom prst="roundRect">
            <a:avLst>
              <a:gd name="adj" fmla="val 22857"/>
            </a:avLst>
          </a:prstGeom>
          <a:solidFill>
            <a:srgbClr val="0ED2F7">
              <a:alpha val="75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3088" y="1828800"/>
            <a:ext cx="795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Robust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01768" y="1828800"/>
            <a:ext cx="795528" cy="320040"/>
          </a:xfrm>
          <a:prstGeom prst="roundRect">
            <a:avLst>
              <a:gd name="adj" fmla="val 22857"/>
            </a:avLst>
          </a:prstGeom>
          <a:solidFill>
            <a:srgbClr val="0ED2F7">
              <a:alpha val="75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1828800"/>
            <a:ext cx="795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Less Overfitting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64408" y="2286000"/>
            <a:ext cx="2560320" cy="27432"/>
          </a:xfrm>
          <a:prstGeom prst="rect">
            <a:avLst/>
          </a:prstGeom>
          <a:solidFill>
            <a:srgbClr val="0ED2F7">
              <a:alpha val="50000"/>
            </a:srgbClr>
          </a:solidFill>
          <a:ln w="12700">
            <a:solidFill>
              <a:srgbClr val="0ED2F7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23774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D2F7"/>
                </a:solidFill>
              </a:rPr>
              <a:t>Hyperparameter Tuning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2724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</a:rPr>
              <a:t>N-Estimators · Max Depth · Bootstrap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55848" y="33832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D2F7">
              <a:alpha val="9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383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RandomizedSearchCV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64408" y="38770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</a:rPr>
              <a:t>✔  SMOTE applied for class balance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17336" y="109728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1097280"/>
            <a:ext cx="274320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8776" y="1097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⚡  XGBoost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08776" y="1828800"/>
            <a:ext cx="795528" cy="320040"/>
          </a:xfrm>
          <a:prstGeom prst="roundRect">
            <a:avLst>
              <a:gd name="adj" fmla="val 22857"/>
            </a:avLst>
          </a:prstGeom>
          <a:solidFill>
            <a:srgbClr val="6C63FF">
              <a:alpha val="7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1828800"/>
            <a:ext cx="795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Boosting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77456" y="1828800"/>
            <a:ext cx="795528" cy="320040"/>
          </a:xfrm>
          <a:prstGeom prst="roundRect">
            <a:avLst>
              <a:gd name="adj" fmla="val 22857"/>
            </a:avLst>
          </a:prstGeom>
          <a:solidFill>
            <a:srgbClr val="6C63FF">
              <a:alpha val="7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77456" y="1828800"/>
            <a:ext cx="795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Accuracy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46136" y="1828800"/>
            <a:ext cx="795528" cy="320040"/>
          </a:xfrm>
          <a:prstGeom prst="roundRect">
            <a:avLst>
              <a:gd name="adj" fmla="val 22857"/>
            </a:avLst>
          </a:prstGeom>
          <a:solidFill>
            <a:srgbClr val="6C63FF">
              <a:alpha val="7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46136" y="1828800"/>
            <a:ext cx="795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Regularized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08776" y="2286000"/>
            <a:ext cx="2560320" cy="27432"/>
          </a:xfrm>
          <a:prstGeom prst="rect">
            <a:avLst/>
          </a:prstGeom>
          <a:solidFill>
            <a:srgbClr val="6C63FF">
              <a:alpha val="50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8776" y="23774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</a:rPr>
              <a:t>Hyperparameter Tuning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08776" y="2724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</a:rPr>
              <a:t>LR · Max Depth · Subsample · ColSample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00216" y="33832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6C63FF">
              <a:alpha val="9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0216" y="3383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RandomizedSearchCV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08776" y="38770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</a:rPr>
              <a:t>✔  SMOTE applied for class balance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06  —  Model Results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634936650"/>
              </p:ext>
            </p:extLst>
          </p:nvPr>
        </p:nvGraphicFramePr>
        <p:xfrm>
          <a:off x="274320" y="1051560"/>
          <a:ext cx="51206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51560"/>
            <a:ext cx="3246120" cy="3520440"/>
          </a:xfrm>
          <a:prstGeom prst="rect">
            <a:avLst/>
          </a:prstGeom>
          <a:solidFill>
            <a:srgbClr val="F8F0FF"/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051560"/>
            <a:ext cx="3246120" cy="5029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051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🏆  Best Model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16642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</a:rPr>
              <a:t>Random Forest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760720" y="2304288"/>
            <a:ext cx="3017520" cy="438912"/>
          </a:xfrm>
          <a:prstGeom prst="rect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23042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Accuracy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89520" y="230428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6C63FF"/>
                </a:solidFill>
              </a:rPr>
              <a:t>88%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60720" y="2807208"/>
            <a:ext cx="3017520" cy="438912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8072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89520" y="28072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6B"/>
                </a:solidFill>
              </a:rPr>
              <a:t>8</a:t>
            </a:r>
            <a:r>
              <a:rPr lang="en-US" sz="1400" b="1">
                <a:solidFill>
                  <a:srgbClr val="FF6B6B"/>
                </a:solidFill>
              </a:rPr>
              <a:t>5</a:t>
            </a:r>
            <a:r>
              <a:rPr lang="en-US" sz="1400" b="1" dirty="0">
                <a:solidFill>
                  <a:srgbClr val="FF6B6B"/>
                </a:solidFill>
              </a:rPr>
              <a:t>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760720" y="3310128"/>
            <a:ext cx="3017520" cy="438912"/>
          </a:xfrm>
          <a:prstGeom prst="rect">
            <a:avLst/>
          </a:prstGeom>
          <a:solidFill>
            <a:srgbClr val="0ED2F7">
              <a:alpha val="12000"/>
            </a:srgbClr>
          </a:solidFill>
          <a:ln w="12700">
            <a:solidFill>
              <a:srgbClr val="0ED2F7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31012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Recall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89520" y="33101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D2F7"/>
                </a:solidFill>
              </a:rPr>
              <a:t>8</a:t>
            </a:r>
            <a:r>
              <a:rPr lang="en-US" sz="1400" b="1">
                <a:solidFill>
                  <a:srgbClr val="0ED2F7"/>
                </a:solidFill>
              </a:rPr>
              <a:t>7</a:t>
            </a:r>
            <a:r>
              <a:rPr lang="en-US" sz="1400" b="1" dirty="0">
                <a:solidFill>
                  <a:srgbClr val="0ED2F7"/>
                </a:solidFill>
              </a:rPr>
              <a:t>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760720" y="3813048"/>
            <a:ext cx="3017520" cy="438912"/>
          </a:xfrm>
          <a:prstGeom prst="rect">
            <a:avLst/>
          </a:prstGeom>
          <a:solidFill>
            <a:srgbClr val="6BCB77">
              <a:alpha val="12000"/>
            </a:srgbClr>
          </a:solidFill>
          <a:ln w="12700">
            <a:solidFill>
              <a:srgbClr val="6BCB77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38130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F1-Score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89520" y="381304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BCB77"/>
                </a:solidFill>
              </a:rPr>
              <a:t>8</a:t>
            </a:r>
            <a:r>
              <a:rPr lang="en-US" sz="1400" b="1">
                <a:solidFill>
                  <a:srgbClr val="6BCB77"/>
                </a:solidFill>
              </a:rPr>
              <a:t>6</a:t>
            </a:r>
            <a:r>
              <a:rPr lang="en-US" sz="1400" b="1" dirty="0">
                <a:solidFill>
                  <a:srgbClr val="6BCB77"/>
                </a:solidFill>
              </a:rPr>
              <a:t>%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760720" y="4315968"/>
            <a:ext cx="3017520" cy="164592"/>
          </a:xfrm>
          <a:prstGeom prst="roundRect">
            <a:avLst>
              <a:gd name="adj" fmla="val 27778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8FB1"/>
          </a:solidFill>
          <a:ln w="12700">
            <a:solidFill>
              <a:srgbClr val="FF8F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07  —  Streamlit Web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84632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4846320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15568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15568"/>
            <a:ext cx="164592" cy="164592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115568"/>
            <a:ext cx="164592" cy="164592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0881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</a:rPr>
              <a:t>🧠  ASD Screening Tool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81328"/>
            <a:ext cx="914400" cy="2286000"/>
          </a:xfrm>
          <a:prstGeom prst="rect">
            <a:avLst/>
          </a:prstGeom>
          <a:solidFill>
            <a:srgbClr val="1A1E2E"/>
          </a:solidFill>
          <a:ln w="12700">
            <a:solidFill>
              <a:srgbClr val="25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3619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⚙️ 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Panel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22960" cy="402336"/>
          </a:xfrm>
          <a:prstGeom prst="rect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4884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AQ-10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822960" cy="402336"/>
          </a:xfrm>
          <a:prstGeom prst="rect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5176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Demographics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22960" cy="402336"/>
          </a:xfrm>
          <a:prstGeom prst="rect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546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Medical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07592" y="1481328"/>
            <a:ext cx="3657600" cy="502920"/>
          </a:xfrm>
          <a:prstGeom prst="rect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 ASD Prediction Tool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2084832"/>
            <a:ext cx="1078992" cy="457200"/>
          </a:xfrm>
          <a:prstGeom prst="rect">
            <a:avLst/>
          </a:prstGeom>
          <a:solidFill>
            <a:srgbClr val="1A1E2E"/>
          </a:solidFill>
          <a:ln w="12700">
            <a:solidFill>
              <a:srgbClr val="25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08483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D2F7"/>
                </a:solidFill>
              </a:rPr>
              <a:t>AQ: 6/10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0" y="2084832"/>
            <a:ext cx="1078992" cy="457200"/>
          </a:xfrm>
          <a:prstGeom prst="rect">
            <a:avLst/>
          </a:prstGeom>
          <a:solidFill>
            <a:srgbClr val="1A1E2E"/>
          </a:solidFill>
          <a:ln w="12700">
            <a:solidFill>
              <a:srgbClr val="25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08483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D2F7"/>
                </a:solidFill>
              </a:rPr>
              <a:t>Age: 25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49040" y="2084832"/>
            <a:ext cx="1078992" cy="457200"/>
          </a:xfrm>
          <a:prstGeom prst="rect">
            <a:avLst/>
          </a:prstGeom>
          <a:solidFill>
            <a:srgbClr val="1A1E2E"/>
          </a:solidFill>
          <a:ln w="12700">
            <a:solidFill>
              <a:srgbClr val="252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08483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D2F7"/>
                </a:solidFill>
              </a:rPr>
              <a:t>Score: 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71600" y="2670048"/>
            <a:ext cx="3474720" cy="640080"/>
          </a:xfrm>
          <a:prstGeom prst="rect">
            <a:avLst/>
          </a:prstGeom>
          <a:solidFill>
            <a:srgbClr val="1A1E2E"/>
          </a:solidFill>
          <a:ln w="12700">
            <a:solidFill>
              <a:srgbClr val="0ED2F7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269748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ED2F7"/>
                </a:solidFill>
              </a:rPr>
              <a:t>✅  No ASD Indicators  —  Probability: 18%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71600" y="3383280"/>
            <a:ext cx="3474720" cy="146304"/>
          </a:xfrm>
          <a:prstGeom prst="rect">
            <a:avLst/>
          </a:prstGeom>
          <a:solidFill>
            <a:srgbClr val="252A38"/>
          </a:solidFill>
          <a:ln w="12700">
            <a:solidFill>
              <a:srgbClr val="25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3383280"/>
            <a:ext cx="621792" cy="146304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111556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8FB1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40680" y="1152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897880" y="12070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</a:rPr>
              <a:t>Dark premium theme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349240" y="1728216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8FB1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40680" y="1764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897880" y="18196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</a:rPr>
              <a:t>Live stat cards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49240" y="234086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8FB1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406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897880" y="24323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</a:rPr>
              <a:t>AQ response chips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349240" y="295351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8FB1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40680" y="2990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897880" y="3044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</a:rPr>
              <a:t>Real-time prediction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349240" y="3566160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8FB1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40680" y="3602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897880" y="3657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</a:rPr>
              <a:t>Probability bar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349240" y="417880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8FB1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40680" y="4215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897880" y="42702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</a:rPr>
              <a:t>Clinical disclaimer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08  —  Power BI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2743200" cy="1691640"/>
          </a:xfrm>
          <a:prstGeom prst="rect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316736"/>
            <a:ext cx="658368" cy="658368"/>
          </a:xfrm>
          <a:prstGeom prst="ellipse">
            <a:avLst/>
          </a:prstGeom>
          <a:solidFill>
            <a:srgbClr val="6C63FF">
              <a:alpha val="9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3167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" y="13167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Model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61288" y="17099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Compare DT, RF &amp; XGB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2468880" cy="54864"/>
          </a:xfrm>
          <a:prstGeom prst="rect">
            <a:avLst/>
          </a:prstGeom>
          <a:solidFill>
            <a:srgbClr val="6C63FF">
              <a:alpha val="50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87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Interactive · Filterable · Exportable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36392" y="1115568"/>
            <a:ext cx="2743200" cy="1691640"/>
          </a:xfrm>
          <a:prstGeom prst="rect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00984" y="1316736"/>
            <a:ext cx="658368" cy="658368"/>
          </a:xfrm>
          <a:prstGeom prst="ellipse">
            <a:avLst/>
          </a:prstGeom>
          <a:solidFill>
            <a:srgbClr val="FF6B6B">
              <a:alpha val="9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13167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🥧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69080" y="13167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ASD Distribution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9080" y="17099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ASD vs Non-ASD ratio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2350008"/>
            <a:ext cx="2468880" cy="54864"/>
          </a:xfrm>
          <a:prstGeom prst="rect">
            <a:avLst/>
          </a:prstGeom>
          <a:solidFill>
            <a:srgbClr val="FF6B6B">
              <a:alpha val="5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2487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Interactive · Filterable · Exportable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44184" y="1115568"/>
            <a:ext cx="2743200" cy="1691640"/>
          </a:xfrm>
          <a:prstGeom prst="rect">
            <a:avLst/>
          </a:prstGeom>
          <a:solidFill>
            <a:srgbClr val="0ED2F7">
              <a:alpha val="10000"/>
            </a:srgbClr>
          </a:solidFill>
          <a:ln w="12700">
            <a:solidFill>
              <a:srgbClr val="0ED2F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316736"/>
            <a:ext cx="658368" cy="658368"/>
          </a:xfrm>
          <a:prstGeom prst="ellipse">
            <a:avLst/>
          </a:prstGeom>
          <a:solidFill>
            <a:srgbClr val="0ED2F7">
              <a:alpha val="9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3167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76872" y="13167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Age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17099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Age group patterns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1344" y="2350008"/>
            <a:ext cx="2468880" cy="54864"/>
          </a:xfrm>
          <a:prstGeom prst="rect">
            <a:avLst/>
          </a:prstGeom>
          <a:solidFill>
            <a:srgbClr val="0ED2F7">
              <a:alpha val="50000"/>
            </a:srgbClr>
          </a:solidFill>
          <a:ln w="12700">
            <a:solidFill>
              <a:srgbClr val="0ED2F7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2487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Interactive · Filterable · Exportable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990088"/>
            <a:ext cx="2743200" cy="1691640"/>
          </a:xfrm>
          <a:prstGeom prst="rect">
            <a:avLst/>
          </a:prstGeom>
          <a:solidFill>
            <a:srgbClr val="FFD93D">
              <a:alpha val="10000"/>
            </a:srgbClr>
          </a:solidFill>
          <a:ln w="12700">
            <a:solidFill>
              <a:srgbClr val="FFD9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3192" y="3191256"/>
            <a:ext cx="658368" cy="658368"/>
          </a:xfrm>
          <a:prstGeom prst="ellipse">
            <a:avLst/>
          </a:prstGeom>
          <a:solidFill>
            <a:srgbClr val="FFD93D">
              <a:alpha val="90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1912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61288" y="31912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Correlation Map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61288" y="35844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Feature heatmap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24528"/>
            <a:ext cx="2468880" cy="54864"/>
          </a:xfrm>
          <a:prstGeom prst="rect">
            <a:avLst/>
          </a:prstGeom>
          <a:solidFill>
            <a:srgbClr val="FFD93D">
              <a:alpha val="50000"/>
            </a:srgbClr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61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Interactive · Filterable · Exportable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36392" y="2990088"/>
            <a:ext cx="2743200" cy="1691640"/>
          </a:xfrm>
          <a:prstGeom prst="rect">
            <a:avLst/>
          </a:prstGeom>
          <a:solidFill>
            <a:srgbClr val="6BCB77">
              <a:alpha val="10000"/>
            </a:srgbClr>
          </a:solidFill>
          <a:ln w="12700">
            <a:solidFill>
              <a:srgbClr val="6BCB7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00984" y="3191256"/>
            <a:ext cx="658368" cy="658368"/>
          </a:xfrm>
          <a:prstGeom prst="ellipse">
            <a:avLst/>
          </a:prstGeom>
          <a:solidFill>
            <a:srgbClr val="6BCB77">
              <a:alpha val="90000"/>
            </a:srgbClr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31912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069080" y="31912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Gender Breakdown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69080" y="35844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Predictions by gender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73552" y="4224528"/>
            <a:ext cx="2468880" cy="54864"/>
          </a:xfrm>
          <a:prstGeom prst="rect">
            <a:avLst/>
          </a:prstGeom>
          <a:solidFill>
            <a:srgbClr val="6BCB77">
              <a:alpha val="50000"/>
            </a:srgbClr>
          </a:solidFill>
          <a:ln w="12700">
            <a:solidFill>
              <a:srgbClr val="6BCB77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27832" y="4361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Interactive · Filterable · Exportable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44184" y="2990088"/>
            <a:ext cx="2743200" cy="1691640"/>
          </a:xfrm>
          <a:prstGeom prst="rect">
            <a:avLst/>
          </a:prstGeom>
          <a:solidFill>
            <a:srgbClr val="FF9A3C">
              <a:alpha val="10000"/>
            </a:srgbClr>
          </a:solidFill>
          <a:ln w="12700">
            <a:solidFill>
              <a:srgbClr val="FF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08776" y="3191256"/>
            <a:ext cx="658368" cy="658368"/>
          </a:xfrm>
          <a:prstGeom prst="ellipse">
            <a:avLst/>
          </a:prstGeom>
          <a:solidFill>
            <a:srgbClr val="FF9A3C">
              <a:alpha val="90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8776" y="31912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76872" y="31912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Country View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76872" y="35844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</a:rPr>
              <a:t>Geographic insights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81344" y="4224528"/>
            <a:ext cx="2468880" cy="54864"/>
          </a:xfrm>
          <a:prstGeom prst="rect">
            <a:avLst/>
          </a:prstGeom>
          <a:solidFill>
            <a:srgbClr val="FF9A3C">
              <a:alpha val="50000"/>
            </a:srgbClr>
          </a:solidFill>
          <a:ln w="12700">
            <a:solidFill>
              <a:srgbClr val="FF9A3C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35624" y="4361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Interactive · Filterable · Exportable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09  —  Testing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15568"/>
            <a:ext cx="566928" cy="16916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15568"/>
            <a:ext cx="5669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🔩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3441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Unit Testing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5681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</a:rPr>
              <a:t>Each module tested individually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90872" y="1115568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115568"/>
            <a:ext cx="566928" cy="1691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115568"/>
            <a:ext cx="5669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76672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25312" y="13441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Integration Testing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76672" y="195681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</a:rPr>
              <a:t>Full pipeline tested end-to-end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035808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D2F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35808"/>
            <a:ext cx="566928" cy="1691640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035808"/>
            <a:ext cx="5669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32644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System Testing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87705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</a:rPr>
              <a:t>Stability with large datasets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90872" y="3035808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CB77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3035808"/>
            <a:ext cx="566928" cy="169164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035808"/>
            <a:ext cx="5669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925312" y="32644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UAT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76672" y="387705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</a:rPr>
              <a:t>Validated by users &amp; professionals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4828032"/>
            <a:ext cx="8686800" cy="54864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46634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D2F7">
              <a:alpha val="8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6634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🎯 Accuracy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65960" y="46634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D2F7">
              <a:alpha val="8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46634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⏱ Response Time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03320" y="46634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D2F7">
              <a:alpha val="8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46634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❌ Error Rate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40680" y="46634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D2F7">
              <a:alpha val="8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46634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😊 User Satisfaction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46634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D2F7">
              <a:alpha val="80000"/>
            </a:srgbClr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46634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🔒 Data Integrity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474720"/>
            <a:ext cx="4114800" cy="41148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ED2F7">
              <a:alpha val="12000"/>
            </a:srgbClr>
          </a:solidFill>
          <a:ln w="12700">
            <a:solidFill>
              <a:srgbClr val="0ED2F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892B0"/>
                </a:solidFill>
              </a:rPr>
              <a:t>10  —  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🎯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8503920" cy="594360"/>
          </a:xfrm>
          <a:prstGeom prst="rect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63040"/>
            <a:ext cx="54864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63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05256" y="14630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ML models successfully predict ASD from behavioral &amp; demographic 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39696"/>
            <a:ext cx="8503920" cy="59436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39696"/>
            <a:ext cx="54864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3969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5256" y="2139696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Random Forest achieved ~96% accuracy — best among all 3 models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8503920" cy="594360"/>
          </a:xfrm>
          <a:prstGeom prst="rect">
            <a:avLst/>
          </a:prstGeom>
          <a:solidFill>
            <a:srgbClr val="FFD93D">
              <a:alpha val="12000"/>
            </a:srgbClr>
          </a:solidFill>
          <a:ln w="12700">
            <a:solidFill>
              <a:srgbClr val="FFD93D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16352"/>
            <a:ext cx="54864" cy="59436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163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5256" y="281635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SMOTE + hyperparameter tuning significantly boosted performance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3493008"/>
            <a:ext cx="8503920" cy="594360"/>
          </a:xfrm>
          <a:prstGeom prst="rect">
            <a:avLst/>
          </a:prstGeom>
          <a:solidFill>
            <a:srgbClr val="0ED2F7">
              <a:alpha val="12000"/>
            </a:srgbClr>
          </a:solidFill>
          <a:ln w="12700">
            <a:solidFill>
              <a:srgbClr val="0ED2F7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493008"/>
            <a:ext cx="54864" cy="594360"/>
          </a:xfrm>
          <a:prstGeom prst="rect">
            <a:avLst/>
          </a:prstGeom>
          <a:solidFill>
            <a:srgbClr val="0ED2F7"/>
          </a:solidFill>
          <a:ln w="12700">
            <a:solidFill>
              <a:srgbClr val="0ED2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930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5256" y="349300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Streamlit app enables real-time, accessible ASD screening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4169664"/>
            <a:ext cx="8503920" cy="594360"/>
          </a:xfrm>
          <a:prstGeom prst="rect">
            <a:avLst/>
          </a:prstGeom>
          <a:solidFill>
            <a:srgbClr val="FF8FB1">
              <a:alpha val="12000"/>
            </a:srgbClr>
          </a:solidFill>
          <a:ln w="12700">
            <a:solidFill>
              <a:srgbClr val="FF8FB1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169664"/>
            <a:ext cx="54864" cy="594360"/>
          </a:xfrm>
          <a:prstGeom prst="rect">
            <a:avLst/>
          </a:prstGeom>
          <a:solidFill>
            <a:srgbClr val="FF8FB1"/>
          </a:solidFill>
          <a:ln w="12700">
            <a:solidFill>
              <a:srgbClr val="FF8F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6966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5256" y="4169664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Tool supports clinicians — does NOT replace professional diagnosis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040" y="4892040"/>
            <a:ext cx="8503920" cy="73152"/>
          </a:xfrm>
          <a:prstGeom prst="rect">
            <a:avLst/>
          </a:prstGeom>
          <a:solidFill>
            <a:srgbClr val="6C63FF">
              <a:alpha val="50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</a:rPr>
              <a:t>Jai Prakash  |  GNA University  |  </a:t>
            </a:r>
            <a:r>
              <a:rPr lang="en-US" sz="1000">
                <a:solidFill>
                  <a:srgbClr val="8892B0"/>
                </a:solidFill>
              </a:rPr>
              <a:t>MCA 4th  </a:t>
            </a:r>
            <a:r>
              <a:rPr lang="en-US" sz="1000" dirty="0">
                <a:solidFill>
                  <a:srgbClr val="8892B0"/>
                </a:solidFill>
              </a:rPr>
              <a:t>| 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635</Words>
  <Application>Microsoft Office PowerPoint</Application>
  <PresentationFormat>On-screen Show (16:9)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Jaiprakash .</cp:lastModifiedBy>
  <cp:revision>3</cp:revision>
  <dcterms:created xsi:type="dcterms:W3CDTF">2026-05-13T11:13:40Z</dcterms:created>
  <dcterms:modified xsi:type="dcterms:W3CDTF">2026-05-13T11:20:41Z</dcterms:modified>
</cp:coreProperties>
</file>